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C8C8"/>
    <a:srgbClr val="F4CC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000754-B906-4145-8F43-A473914E71B4}" type="datetimeFigureOut">
              <a:rPr lang="vi-VN" smtClean="0"/>
              <a:t>03/01/2026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C96E93-3E98-43CD-BF31-9F6830928114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02678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C96E93-3E98-43CD-BF31-9F6830928114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7887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1/3/2026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vi-V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E919A-CAB0-5332-2172-64A3E904C4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Arial" panose="020B0604020202020204" pitchFamily="34" charset="0"/>
                <a:cs typeface="Arial" panose="020B0604020202020204" pitchFamily="34" charset="0"/>
              </a:rPr>
              <a:t>ỨNG DỤNG CÔNG NGHỆ ĐIỆN TOÁN ĐÁM MÂY TRONG HỌC TẬP VÀ GIÁO DỤC</a:t>
            </a:r>
            <a:endParaRPr lang="vi-VN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5E027-F092-7F97-B4F1-4488A290E9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2102680"/>
          </a:xfrm>
        </p:spPr>
        <p:txBody>
          <a:bodyPr>
            <a:normAutofit/>
          </a:bodyPr>
          <a:lstStyle/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dẫn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Khấu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Văn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Nhựt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Sinh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Châu Tuyết Trân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DA23TTC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MSSV: 110122189</a:t>
            </a:r>
            <a:endParaRPr lang="vi-V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C64BB5-F79B-0B10-6FA8-0316C2160354}"/>
              </a:ext>
            </a:extLst>
          </p:cNvPr>
          <p:cNvSpPr txBox="1"/>
          <p:nvPr/>
        </p:nvSpPr>
        <p:spPr>
          <a:xfrm>
            <a:off x="0" y="6416170"/>
            <a:ext cx="8191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Mail: chautuyettran1@gmail.com - SĐT: 0342218606</a:t>
            </a:r>
            <a:endParaRPr lang="vi-VN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6122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1105C-B145-DD2C-529D-1D25D8CDC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dung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184EDA-993A-E11F-98D8-5B860D0C1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thiệu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hóa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1149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409DA-FFAF-6315-2C00-69631CA70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Giới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thiệu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02D2A-50F5-C7D1-9B25-CBDE20271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Lý do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lựa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chọn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Trong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bối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cảnh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4.0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chuyển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đang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lan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tỏa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mạnh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(Cloud Computing)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trở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trọng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yếu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thức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dạy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lĩnh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Các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mang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lưu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truy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chia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chóng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kiệm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chi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xu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mọi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lúc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mọi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này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tối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ưu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hóa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dạy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nâng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nguyên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844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67775-4F43-2C79-25EE-1DC2059C3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Giới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thiệu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A9D248-007E-83AE-62B7-B597A363E9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Phương </a:t>
            </a:r>
            <a:r>
              <a:rPr lang="en-US" sz="1700" b="1" dirty="0" err="1">
                <a:latin typeface="Arial" panose="020B0604020202020204" pitchFamily="34" charset="0"/>
                <a:cs typeface="Arial" panose="020B0604020202020204" pitchFamily="34" charset="0"/>
              </a:rPr>
              <a:t>pháp</a:t>
            </a: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b="1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17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b="1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endParaRPr lang="en-US" sz="17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: Thu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thập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tin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sách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, internet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website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chính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thức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nhà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cung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vi-VN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Phân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so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sánh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phầm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mềm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đó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xuất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những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dạy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tại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vi-VN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Minh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chứng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dung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xuất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ví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minh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họa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phỏng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phục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. So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sánh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ưu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nhược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hiệu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khả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mở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rộng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bảo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mật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vi-VN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Đánh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giá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Viết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báo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cáo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luận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xuất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700" dirty="0" err="1">
                <a:latin typeface="Arial" panose="020B0604020202020204" pitchFamily="34" charset="0"/>
                <a:cs typeface="Arial" panose="020B0604020202020204" pitchFamily="34" charset="0"/>
              </a:rPr>
              <a:t>tế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1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166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2F97B-EE0A-1A94-4FB7-D7D1151C2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46542-4FF9-42FB-0F6B-2431BE3FD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mây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phép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sẻ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kiệm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nguyên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mây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ngày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càng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rãi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lĩnh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82728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83458-F5B8-D672-11C9-876873E4C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endParaRPr lang="vi-VN" sz="4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BA429-BC4D-16FB-6363-8C33FE553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Các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khai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– Public Cloud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riêng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– Private Cloud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lai – Hybrid Cloud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đồng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Communtity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Cloud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4231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996B5-048C-0428-9B5E-69DCEE42A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endParaRPr lang="vi-VN" sz="4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357EEF-EEEF-BC29-31F3-0DB951C63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2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Các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IaaS (Infrastructure as a Service) -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dưới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PaaS (Platform as a Service) -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dưới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SaaS (Software as a Service) -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mềm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dưới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015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98CFC-FADE-1C2C-47CD-D9771EBC0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endParaRPr lang="vi-VN" sz="4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2E4BE-E597-2793-E4EA-539429A7E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3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Các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đặc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trưng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bản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Truy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mọi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lúc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mọi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nơi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nguyên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chóng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lường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7355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8BFC7-3AE6-E6D3-BEA7-27E94D07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endParaRPr lang="vi-VN" sz="4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89462-4ABC-8E51-4706-3E76418A9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endParaRPr 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Lưu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chia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sẻ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Sinh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lưu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truy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cập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mọi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lúc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mọi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nơi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Học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Các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Google Classroom, Microsoft Teams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hỗ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trợ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tổ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chức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chấm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trao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nhóm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Nhiều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cùng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chỉnh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sửa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bảng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gian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Quản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Nhà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trường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dễ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dàng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lịch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nguyên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đào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tạo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0207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98ABF-E9E0-6DB4-C482-63256463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15423-B6F7-3AE9-85E6-63314B4A8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Vai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trò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	Vai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trò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rõ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hỗ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trợ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blended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learning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),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tăng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cường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khả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giữa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đồng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tối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ưu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hóa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chi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phí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đầu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tư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hạ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tin.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672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32C2E-E862-A5F6-D466-FC2670CD9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84455-583C-7BAC-B66F-B05AB7F7BC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chính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phục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Hạ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Bao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gồm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chủ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lưu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mạng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trung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tâm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do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nhà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cung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mềm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hỗ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trợ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soạn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thảo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Bao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gồm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cán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bộ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b="1" dirty="0" err="1">
                <a:latin typeface="Arial" panose="020B0604020202020204" pitchFamily="34" charset="0"/>
                <a:cs typeface="Arial" panose="020B0604020202020204" pitchFamily="34" charset="0"/>
              </a:rPr>
              <a:t>nối</a:t>
            </a:r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 Internet: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Là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yếu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tố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trọng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truy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cập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cách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hiệu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2889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774D9-4125-2165-7E5C-2476E1317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CB1DD-41BF-91B7-FE59-07DB8FE985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3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Nguyên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dựa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nguyên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cung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cấp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nguyên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theo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yêu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qua Internet.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gửi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yêu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phân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bổ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nguyên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máy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chủ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xa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trả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duyệt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web.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Nguyên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này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tâm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đến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cứng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cài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đặt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mềm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hay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bảo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trì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đó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trung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hơn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dạy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85100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2298D-3A45-522D-F085-23049C61E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400" b="1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240597-9123-166B-14BC-618F91BF0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4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Các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lưu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Bộ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phòng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Công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48007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19F1B-53B6-14C5-BDEC-C6F760051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HIỆN THỰC HÓA NGHIÊN CỨU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54DF3-615A-950C-B982-4812B3905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4554941" cy="3450613"/>
          </a:xfrm>
        </p:spPr>
        <p:txBody>
          <a:bodyPr>
            <a:normAutofit fontScale="925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dựng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dựng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Google Classroom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thuộc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Google Workspace for Education.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hành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thiết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mô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môn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lịch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Sau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mời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chỉ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email.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vi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EB528C-05F4-E9D4-80AF-09EE7ED9B4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21" r="517" b="6909"/>
          <a:stretch>
            <a:fillRect/>
          </a:stretch>
        </p:blipFill>
        <p:spPr>
          <a:xfrm>
            <a:off x="6006520" y="2015732"/>
            <a:ext cx="5048333" cy="3195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44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867F4-E9B0-9C4F-5CB2-22C6BD69F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HIỆN THỰC HÓA NGHIÊN CỨU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00EA8-1DD9-A97A-3041-C1EACF813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4546098" cy="3450613"/>
          </a:xfrm>
        </p:spPr>
        <p:txBody>
          <a:bodyPr>
            <a:normAutofit fontScale="92500"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dựng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cuộc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họp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Cuộc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buổi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tổ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chức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Google Meet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phòng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chia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Trong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chiếu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chia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màn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tiếp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âm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5CC04E-0489-B71A-2E5D-958AE3E46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015732"/>
            <a:ext cx="4958854" cy="3052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1170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6499C-5DB8-20EA-F6A5-25001DC0D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HIỆN THỰC HÓA NGHIÊN CỨU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5EC0C-224F-4BFF-B143-C8019DCB05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4678649" cy="3450613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Lưu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Google Drive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lưu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trữ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môn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khảo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Sinh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truy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xem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này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bất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cứ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lúc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nào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899EAE-B349-5F4F-0F0E-ECA0CAEF9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0228" y="2234145"/>
            <a:ext cx="4924626" cy="2770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2243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6F7CC-8543-6AB3-7F38-6D5C7C2A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HIỆN THỰC HÓA NGHIÊN CỨU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DCB22-4DA9-E3F3-C71B-657E73EE5F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4272962" cy="3450613"/>
          </a:xfrm>
        </p:spPr>
        <p:txBody>
          <a:bodyPr>
            <a:normAutofit fontScale="92500" lnSpcReduction="20000"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Bộ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văn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phòng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soạn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thảo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cứu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bộ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phòng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thuộc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Google Workspace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bao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gồm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Google Docs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soạn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thảo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Google Sheets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biểu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Google Slides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thiết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kế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nhóm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4EAE99-A4A2-A986-07D4-57CA5FE24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542" y="2192712"/>
            <a:ext cx="5330313" cy="3553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278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A8E6E-499A-6CF2-65E7-4318F7CB5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KẾT QUẢ NGHIÊN CỨU</a:t>
            </a:r>
            <a:endParaRPr lang="vi-VN" sz="4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D06F5-821E-DACA-14AF-45D4888B4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Bảng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đánh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giá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C612582-BF20-FF1B-39E1-967959EADD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087578"/>
              </p:ext>
            </p:extLst>
          </p:nvPr>
        </p:nvGraphicFramePr>
        <p:xfrm>
          <a:off x="1451579" y="2454180"/>
          <a:ext cx="9603274" cy="371535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4519">
                  <a:extLst>
                    <a:ext uri="{9D8B030D-6E8A-4147-A177-3AD203B41FA5}">
                      <a16:colId xmlns:a16="http://schemas.microsoft.com/office/drawing/2014/main" val="3791433547"/>
                    </a:ext>
                  </a:extLst>
                </a:gridCol>
                <a:gridCol w="8158755">
                  <a:extLst>
                    <a:ext uri="{9D8B030D-6E8A-4147-A177-3AD203B41FA5}">
                      <a16:colId xmlns:a16="http://schemas.microsoft.com/office/drawing/2014/main" val="122208944"/>
                    </a:ext>
                  </a:extLst>
                </a:gridCol>
              </a:tblGrid>
              <a:tr h="3598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Tiêu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chí</a:t>
                      </a:r>
                      <a:endParaRPr lang="vi-VN" sz="17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7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Nội dung đánh giá</a:t>
                      </a:r>
                      <a:endParaRPr lang="vi-VN" sz="17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extLst>
                  <a:ext uri="{0D108BD9-81ED-4DB2-BD59-A6C34878D82A}">
                    <a16:rowId xmlns:a16="http://schemas.microsoft.com/office/drawing/2014/main" val="120981059"/>
                  </a:ext>
                </a:extLst>
              </a:tr>
              <a:tr h="143646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7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Hiệu năng</a:t>
                      </a:r>
                      <a:endParaRPr lang="vi-VN" sz="17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Hệ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thống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hoạt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động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ổn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định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tốc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độ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truy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cập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nhanh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có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kết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nối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Internet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tốt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Các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chức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năng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như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tạo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lớp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học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nộp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bài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soạn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thảo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học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trực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tuyến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được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thực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hiện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mượt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mà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Có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khả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năng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phục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vụ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đồng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thời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nhiều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người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dùng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vi-VN" sz="17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extLst>
                  <a:ext uri="{0D108BD9-81ED-4DB2-BD59-A6C34878D82A}">
                    <a16:rowId xmlns:a16="http://schemas.microsoft.com/office/drawing/2014/main" val="3860853632"/>
                  </a:ext>
                </a:extLst>
              </a:tr>
              <a:tr h="190445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7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Ưu điểm</a:t>
                      </a:r>
                      <a:endParaRPr lang="vi-VN" sz="17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Không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cần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đầu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tư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hạ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tầng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máy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chủ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riêng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b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Truy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cập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học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tập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mọi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lúc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mọi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nơi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.-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Hỗ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trợ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làm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việc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nhóm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chỉnh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sửa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tài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liệu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thời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gian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thực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b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Dễ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sử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dụng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giao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diện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thân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thiện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.-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Dữ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liệu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được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lưu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trữ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tập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lưu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tự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động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vi-VN" sz="17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extLst>
                  <a:ext uri="{0D108BD9-81ED-4DB2-BD59-A6C34878D82A}">
                    <a16:rowId xmlns:a16="http://schemas.microsoft.com/office/drawing/2014/main" val="3173380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87549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1BC5A-D0E2-B866-C6E3-18CF6ECB7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765191"/>
            <a:ext cx="9603275" cy="1049235"/>
          </a:xfrm>
        </p:spPr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KẾT QUẢ NGHIÊN CỨU</a:t>
            </a:r>
            <a:endParaRPr lang="vi-VN" sz="440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6D09E61-395A-356A-34B1-6A5D37140A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665255"/>
              </p:ext>
            </p:extLst>
          </p:nvPr>
        </p:nvGraphicFramePr>
        <p:xfrm>
          <a:off x="1431914" y="1814426"/>
          <a:ext cx="9603274" cy="428060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4519">
                  <a:extLst>
                    <a:ext uri="{9D8B030D-6E8A-4147-A177-3AD203B41FA5}">
                      <a16:colId xmlns:a16="http://schemas.microsoft.com/office/drawing/2014/main" val="3106944504"/>
                    </a:ext>
                  </a:extLst>
                </a:gridCol>
                <a:gridCol w="8158755">
                  <a:extLst>
                    <a:ext uri="{9D8B030D-6E8A-4147-A177-3AD203B41FA5}">
                      <a16:colId xmlns:a16="http://schemas.microsoft.com/office/drawing/2014/main" val="732249443"/>
                    </a:ext>
                  </a:extLst>
                </a:gridCol>
              </a:tblGrid>
              <a:tr h="124599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7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Nhược điểm</a:t>
                      </a:r>
                      <a:endParaRPr lang="vi-VN" sz="17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Phụ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thuộc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vào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kết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nối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Internet.</a:t>
                      </a:r>
                      <a:b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Có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nguy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cơ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rủi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ro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bảo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mật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nếu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người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dùng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không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quản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lý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tốt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tài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khoản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b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Một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số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tính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năng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nâng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cao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yêu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cầu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gói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trả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phí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b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Phụ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thuộc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vào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nhà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cung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cấp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dịch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vụ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đám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fr-FR" sz="1700" b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mây</a:t>
                      </a:r>
                      <a:r>
                        <a:rPr lang="fr-FR" sz="17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vi-VN" sz="17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>
                    <a:solidFill>
                      <a:srgbClr val="FCC8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3244790"/>
                  </a:ext>
                </a:extLst>
              </a:tr>
              <a:tr h="1509975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7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Chi phí</a:t>
                      </a:r>
                      <a:endParaRPr lang="vi-VN" sz="17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Phiên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bản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cơ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bản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của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Google Workspace for Education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được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cấp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miễn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phí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giáo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dục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Chi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phí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nâng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cấp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thấp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hơn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nhiều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so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với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việc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xây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dựng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vận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hành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hệ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thống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CNTT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truyền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thống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Thanh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toán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mô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hình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sử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dụng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giúp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tối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ưu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ngân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sách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vi-VN" sz="17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extLst>
                  <a:ext uri="{0D108BD9-81ED-4DB2-BD59-A6C34878D82A}">
                    <a16:rowId xmlns:a16="http://schemas.microsoft.com/office/drawing/2014/main" val="1903812006"/>
                  </a:ext>
                </a:extLst>
              </a:tr>
              <a:tr h="124256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7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Khả năng triển khai</a:t>
                      </a:r>
                      <a:endParaRPr lang="vi-VN" sz="17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Dễ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triển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khai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trong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môi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trường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giáo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dục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không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yêu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cầu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kỹ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thuật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phức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tạp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Phù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hợp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với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nhiều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hình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thức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đào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tạo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như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học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trực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tuyến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học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kết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hợp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và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đào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tạo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từ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xa.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Dễ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mở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rộng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quy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mô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khi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số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lượng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người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học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7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tăng</a:t>
                      </a:r>
                      <a:r>
                        <a:rPr lang="en-US" sz="17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lang="vi-VN" sz="17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10795" marR="10795" marT="10795" marB="10795" anchor="ctr"/>
                </a:tc>
                <a:extLst>
                  <a:ext uri="{0D108BD9-81ED-4DB2-BD59-A6C34878D82A}">
                    <a16:rowId xmlns:a16="http://schemas.microsoft.com/office/drawing/2014/main" val="2391471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77254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F9F0C-E4E7-58DB-6717-A2095C0A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KẾT QUẢ NGHIÊN CỨU</a:t>
            </a:r>
            <a:endParaRPr lang="vi-V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B47BD-D61D-9C66-B3B1-A1A2306EA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nhận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thấy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rằng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mang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nhiều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thuận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kiệm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chi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đầu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tin.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Nâng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giữa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sinh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xu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chuyển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Tuy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đám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vẫn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phụ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thuộc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chất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lượng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nối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Internet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vi-V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9529415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F1F4A-6A07-3F24-E5A1-7355DA86D04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93812" y="1591444"/>
            <a:ext cx="9604375" cy="1049337"/>
          </a:xfrm>
        </p:spPr>
        <p:txBody>
          <a:bodyPr>
            <a:noAutofit/>
          </a:bodyPr>
          <a:lstStyle/>
          <a:p>
            <a:pPr algn="ctr"/>
            <a:r>
              <a:rPr lang="en-US" sz="4000" b="1">
                <a:latin typeface="Arial" panose="020B0604020202020204" pitchFamily="34" charset="0"/>
                <a:cs typeface="Arial" panose="020B0604020202020204" pitchFamily="34" charset="0"/>
              </a:rPr>
              <a:t>Thank You </a:t>
            </a:r>
            <a:r>
              <a:rPr 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for your listening</a:t>
            </a:r>
            <a:endParaRPr lang="vi-VN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649668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{C2553846-D0FB-4F78-8011-8E0B3E03E7A9}TFc986dd65-aaf0-4d5c-bef9-9c391ee05f7b5b9f8445-8c76c4990800</Template>
  <TotalTime>1915</TotalTime>
  <Words>1823</Words>
  <Application>Microsoft Office PowerPoint</Application>
  <PresentationFormat>Widescreen</PresentationFormat>
  <Paragraphs>99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Gill Sans MT</vt:lpstr>
      <vt:lpstr>Times New Roman</vt:lpstr>
      <vt:lpstr>Gallery</vt:lpstr>
      <vt:lpstr>ỨNG DỤNG CÔNG NGHỆ ĐIỆN TOÁN ĐÁM MÂY TRONG HỌC TẬP VÀ GIÁO DỤC</vt:lpstr>
      <vt:lpstr>Nội dung</vt:lpstr>
      <vt:lpstr>Giới thiệu</vt:lpstr>
      <vt:lpstr>Giới thiệu</vt:lpstr>
      <vt:lpstr>Tổng quan</vt:lpstr>
      <vt:lpstr>Tổng quan</vt:lpstr>
      <vt:lpstr>Tổng quan</vt:lpstr>
      <vt:lpstr>Tổng quan</vt:lpstr>
      <vt:lpstr>Tổng quan</vt:lpstr>
      <vt:lpstr>Nghiên cứu lý thuyết</vt:lpstr>
      <vt:lpstr>Nghiên cứu lý thuyết</vt:lpstr>
      <vt:lpstr>Nghiên cứu lý thuyết</vt:lpstr>
      <vt:lpstr>Nghiên cứu lý thuyết</vt:lpstr>
      <vt:lpstr>HIỆN THỰC HÓA NGHIÊN CỨU</vt:lpstr>
      <vt:lpstr>HIỆN THỰC HÓA NGHIÊN CỨU</vt:lpstr>
      <vt:lpstr>HIỆN THỰC HÓA NGHIÊN CỨU</vt:lpstr>
      <vt:lpstr>HIỆN THỰC HÓA NGHIÊN CỨU</vt:lpstr>
      <vt:lpstr>KẾT QUẢ NGHIÊN CỨU</vt:lpstr>
      <vt:lpstr>KẾT QUẢ NGHIÊN CỨU</vt:lpstr>
      <vt:lpstr>KẾT QUẢ NGHIÊN CỨU</vt:lpstr>
      <vt:lpstr>Thank You for your listening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</dc:creator>
  <cp:lastModifiedBy>Office</cp:lastModifiedBy>
  <cp:revision>46</cp:revision>
  <dcterms:created xsi:type="dcterms:W3CDTF">2026-01-03T12:56:27Z</dcterms:created>
  <dcterms:modified xsi:type="dcterms:W3CDTF">2026-01-04T20:51:31Z</dcterms:modified>
</cp:coreProperties>
</file>